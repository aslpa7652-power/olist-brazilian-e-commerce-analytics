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Monthly Revenue — Combined 2016–2018 (R$ 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 '000)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1591.2</c:v>
                </c:pt>
                <c:pt idx="1">
                  <c:v>1650.5</c:v>
                </c:pt>
                <c:pt idx="2">
                  <c:v>1990.1</c:v>
                </c:pt>
                <c:pt idx="3">
                  <c:v>1989.3</c:v>
                </c:pt>
                <c:pt idx="4">
                  <c:v>2222</c:v>
                </c:pt>
                <c:pt idx="5">
                  <c:v>1895.6</c:v>
                </c:pt>
                <c:pt idx="6">
                  <c:v>2074.4</c:v>
                </c:pt>
                <c:pt idx="7">
                  <c:v>2049.5</c:v>
                </c:pt>
                <c:pt idx="8">
                  <c:v>1017.9</c:v>
                </c:pt>
                <c:pt idx="9">
                  <c:v>1096.7</c:v>
                </c:pt>
                <c:pt idx="10">
                  <c:v>1579.4</c:v>
                </c:pt>
                <c:pt idx="11">
                  <c:v>1031.3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Top 8 Categories — Revenue (R$ Thousands)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(R$ '000)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Garden Tools</c:v>
                  </c:pt>
                  <c:pt idx="1">
                    <c:v>Housewares</c:v>
                  </c:pt>
                  <c:pt idx="2">
                    <c:v>Sports &amp; Leisure</c:v>
                  </c:pt>
                  <c:pt idx="3">
                    <c:v>Watches &amp; Gifts</c:v>
                  </c:pt>
                  <c:pt idx="4">
                    <c:v>Furniture &amp; Decor</c:v>
                  </c:pt>
                  <c:pt idx="5">
                    <c:v>Computer Accessories</c:v>
                  </c:pt>
                  <c:pt idx="6">
                    <c:v>Health &amp; Beauty</c:v>
                  </c:pt>
                  <c:pt idx="7">
                    <c:v>Bed, Bath &amp; Table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834.8</c:v>
                </c:pt>
                <c:pt idx="1">
                  <c:v>1091.7</c:v>
                </c:pt>
                <c:pt idx="2">
                  <c:v>1390.6</c:v>
                </c:pt>
                <c:pt idx="3">
                  <c:v>1420.7</c:v>
                </c:pt>
                <c:pt idx="4">
                  <c:v>1427.2</c:v>
                </c:pt>
                <c:pt idx="5">
                  <c:v>1592.6</c:v>
                </c:pt>
                <c:pt idx="6">
                  <c:v>1646.3</c:v>
                </c:pt>
                <c:pt idx="7">
                  <c:v>1725.5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Top 5 States by Customer Count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</c:v>
                  </c:pt>
                  <c:pt idx="1">
                    <c:v>RJ</c:v>
                  </c:pt>
                  <c:pt idx="2">
                    <c:v>MG</c:v>
                  </c:pt>
                  <c:pt idx="3">
                    <c:v>RS</c:v>
                  </c:pt>
                  <c:pt idx="4">
                    <c:v>PR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39727</c:v>
                </c:pt>
                <c:pt idx="1">
                  <c:v>12153</c:v>
                </c:pt>
                <c:pt idx="2">
                  <c:v>11106</c:v>
                </c:pt>
                <c:pt idx="3">
                  <c:v>5230</c:v>
                </c:pt>
                <c:pt idx="4">
                  <c:v>4816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Average Delivery Time by Review Score (Days)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Delivery Days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 Star</c:v>
                  </c:pt>
                  <c:pt idx="1">
                    <c:v>2 Star</c:v>
                  </c:pt>
                  <c:pt idx="2">
                    <c:v>3 Star</c:v>
                  </c:pt>
                  <c:pt idx="3">
                    <c:v>4 Star</c:v>
                  </c:pt>
                  <c:pt idx="4">
                    <c:v>5 Star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18.71</c:v>
                </c:pt>
                <c:pt idx="1">
                  <c:v>15.6</c:v>
                </c:pt>
                <c:pt idx="2">
                  <c:v>13.96</c:v>
                </c:pt>
                <c:pt idx="3">
                  <c:v>12.16</c:v>
                </c:pt>
                <c:pt idx="4">
                  <c:v>10.6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B2B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114800" cy="41148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Brazilian E-Commerce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5486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 •  Python  •  SQL (MySQL)  •  Power BI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Aasif Iqbal  |  Data Analyst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3276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github.com/aslpa7652-POWER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8132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013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analysis matters for Olist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1945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1396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45973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112K+ order-line records, 2016–2018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7980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Tech Stack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11810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SQL → Power BI pipeline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5112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4564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Growth Analysis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77647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/ MoM trends, seasonality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16966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169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1148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Geography Insights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4434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products, top states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48280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4828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7731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Satisfaction Analysis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0932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speed drive ratings?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54864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543153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575157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business takeaways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is a Brazilian e-commerce marketplace connecting small businesses across the country to customers nationwide, through a single unified platform.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146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order-level transaction data to answer four core questions: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3026664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8986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revenue actually coming from?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483864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3558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and states drive growth?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" y="3941064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8130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delivery — and does it move customer ratings?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398264"/>
            <a:ext cx="82296" cy="8229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42702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the business focus to grow profitably?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589520" y="155448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1812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818120" y="2286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112,369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Order-line records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97,916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81812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81812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94,720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4480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4892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2016–2018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5349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window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41732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545336"/>
            <a:ext cx="19019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112,369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182673"/>
            <a:ext cx="190195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07792" y="141732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99232" y="1545336"/>
            <a:ext cx="19019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97,916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182673"/>
            <a:ext cx="190195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57216" y="141732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48656" y="1545336"/>
            <a:ext cx="19019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94,720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2182673"/>
            <a:ext cx="190195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141732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0" y="1545336"/>
            <a:ext cx="19019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2182673"/>
            <a:ext cx="190195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Columns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56064" y="1417320"/>
            <a:ext cx="2084832" cy="123444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47504" y="1545336"/>
            <a:ext cx="1901952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2016–2018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747504" y="2182673"/>
            <a:ext cx="190195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2971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include order status, purchase/delivery dates, product category, pricing, freight cost, review score, and customer geography (state/city).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Fields (created during Python cleaning)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" y="4069080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4F6F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1056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estimated_profit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33425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at 20% margin on payment value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4663440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4F6F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470001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distcount_amount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492861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amount applied per order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" y="5257800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4F6F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2960" y="529437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order_purchase_day/month/year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52297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date parts for trend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" y="5852160"/>
            <a:ext cx="5074920" cy="502920"/>
          </a:xfrm>
          <a:prstGeom prst="roundRect">
            <a:avLst>
              <a:gd name="adj" fmla="val 10909"/>
            </a:avLst>
          </a:prstGeom>
          <a:solidFill>
            <a:srgbClr val="F4F6F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58887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order_delivered_day/month/year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6117336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date parts for delivery analysis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406908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263640" y="4251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SOURCE TABLES (Olist schema)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45720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 •  Order Items  •  Products  •  Customers  •  Sellers  •  Payments  •  Reviews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into a single flat analytical table ("olist") for SQL and Power BI use.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Tech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201168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687068" y="2286000"/>
            <a:ext cx="512064" cy="5120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8706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Olist CSVs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(orders, items, reviews, payments)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218688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9000" y="201168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4430268" y="2286000"/>
            <a:ext cx="512064" cy="5120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3026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merging, feature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(Pandas, NumPy)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61888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72200" y="201168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7173468" y="2286000"/>
            <a:ext cx="512064" cy="5120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346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36+ business queries incl.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&amp; window functions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705088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15400" y="201168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4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9916668" y="2286000"/>
            <a:ext cx="512064" cy="51206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91666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2971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33832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filters &amp; drill-downs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script and Jupyter Notebook are included in this GitHub repository.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Profitability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55448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682496"/>
            <a:ext cx="2359152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R$20.19M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631643"/>
            <a:ext cx="235915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682496"/>
            <a:ext cx="2359152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R$2.71M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631643"/>
            <a:ext cx="235915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(est.)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08192" y="155448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99632" y="1682496"/>
            <a:ext cx="2359152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R$206.18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2631643"/>
            <a:ext cx="235915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33104" y="1554480"/>
            <a:ext cx="2542032" cy="1737360"/>
          </a:xfrm>
          <a:prstGeom prst="roundRect">
            <a:avLst>
              <a:gd name="adj" fmla="val 4737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24544" y="1682496"/>
            <a:ext cx="2359152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4.03 / 5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24544" y="2631643"/>
            <a:ext cx="235915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Customer Rating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is modeled at an estimated 20% margin on payment value (~13.4% of revenue after allocation).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8368" y="4023360"/>
            <a:ext cx="10844784" cy="2148840"/>
          </a:xfrm>
          <a:prstGeom prst="roundRect">
            <a:avLst>
              <a:gd name="adj" fmla="val 3404"/>
            </a:avLst>
          </a:prstGeom>
          <a:solidFill>
            <a:srgbClr val="F4F6F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Split — Weekday vs. Weekend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R$15.78M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Revenue (78%)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617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R$4.41M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5120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Revenue (22%)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6177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shopping activity is heavily weekday-driven — a signal for scheduling promotions Mon–Fri rather than weekends.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 &amp; Seasonality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70408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417320"/>
            <a:ext cx="3611880" cy="4160520"/>
          </a:xfrm>
          <a:prstGeom prst="roundRect">
            <a:avLst>
              <a:gd name="adj" fmla="val 2025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13816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 FACTS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+21.15%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560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Year-over-Year revenue growth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2017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657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month — R$1.58M in sales, consistent with a Black Friday effect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excluded from YoY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covers only Sep–Dec (platform launch), so it's a partial-year base and excluded from growth-rate comparisons.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Product Categories by Revenue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640080" y="1371600"/>
          <a:ext cx="108813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Geography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640080" y="141732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417320"/>
            <a:ext cx="4251960" cy="4206240"/>
          </a:xfrm>
          <a:prstGeom prst="roundRect">
            <a:avLst>
              <a:gd name="adj" fmla="val 1739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9808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MAP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0574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(SP) alone accounts for ~42% of all customers — more than the next 3 states combined.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3063240"/>
            <a:ext cx="3794760" cy="1371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498080" y="3246120"/>
            <a:ext cx="3794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concentration means logistics/marketing investment in SP has outsized impact — but also signals under-penetration in states like RR, AP, AC (lowest revenue).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461772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pair SP-focused fulfillment efficiency with targeted growth campaigns in low-penetration states.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&amp; Satisfaction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37160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235915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 days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23567"/>
            <a:ext cx="2359152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Delivery Time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499616"/>
            <a:ext cx="235915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6.74 days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23567"/>
            <a:ext cx="2359152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Dispatch Time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08192" y="137160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99632" y="1499616"/>
            <a:ext cx="235915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4.03 / 5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99632" y="2023567"/>
            <a:ext cx="2359152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33104" y="1371600"/>
            <a:ext cx="2542032" cy="1051560"/>
          </a:xfrm>
          <a:prstGeom prst="roundRect">
            <a:avLst>
              <a:gd name="adj" fmla="val 7826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24544" y="1499616"/>
            <a:ext cx="2359152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63,525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924544" y="2023567"/>
            <a:ext cx="2359152" cy="35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Reviews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2697480"/>
          <a:ext cx="10881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4447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8074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top categories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0992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Bed/Bath/Table and Health &amp; Beauty drive the most revenue — prioritize inventory and ad spend here.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31343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24942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delivery in slow states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7860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and similar states average ~28-day delivery vs. 8.7 days in SP — a clear satisfaction risk.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821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11810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November seasonality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44728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2017 was the best month on record — build campaigns around this Black Friday-driven demand spike.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050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98678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weekday shoppers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31596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 of revenue happens on weekdays — shift promotional timing away from weekends.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919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4919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85546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directly lifts ratings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18464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orders arrive ~8 days faster than 1-star orders on average — logistics investment pays back in satisfaction.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097280"/>
            <a:ext cx="1088136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" y="14630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2144268" y="1783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4426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14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136392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69848" y="300837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7 raw Olist tables into one analytical dataset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3849624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69848" y="37216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nulls, fixed types, parsed dates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14400" y="4562856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69848" y="4434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profit &amp; discount fields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4400" y="5276088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9848" y="51480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Matplotlib/Seaborn for EDA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61688" y="14630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5847588" y="1783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4758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2514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(MySQL)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17720" y="3136392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73168" y="300837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36+ business queries across 4 categories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3849624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73168" y="37216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 + window functions (LAG) for YoY/MoM growth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4562856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73168" y="4434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 GROUP BY (state, category, month)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5276088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73168" y="51480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top-N business questions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65008" y="146304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9550908" y="178308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55090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247888" y="25146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321040" y="3136392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76488" y="3008376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from the cleaned dataset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21040" y="3849624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476488" y="372160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category &amp; geo visuals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21040" y="4562856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76488" y="4434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state / category / time drill-down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321040" y="5276088"/>
            <a:ext cx="64008" cy="6400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476488" y="514807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2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Stakeholder-ready visual storytelling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Analytics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572000"/>
            <a:ext cx="3657600" cy="3657600"/>
          </a:xfrm>
          <a:prstGeom prst="ellipse">
            <a:avLst/>
          </a:prstGeom>
          <a:solidFill>
            <a:srgbClr val="26348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68680" y="2971800"/>
            <a:ext cx="5486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154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feedback are always welcome.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github.com/aslpa7652-POWER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00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ashilfa7652@gmail.com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86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+91-9509784732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2026-09-16T05:09:16Z</dcterms:created>
  <dcterms:modified xsi:type="dcterms:W3CDTF">2026-09-16T05:09:16Z</dcterms:modified>
</cp:coreProperties>
</file>